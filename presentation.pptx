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0F1C5A-09A0-9C68-A651-99CF8DA912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09E0855-A3A3-74C9-0082-3CF8E81767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1F37218-A0A5-611C-64E6-8E782EB0E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4E16A-35DD-49A9-87C0-BBAA83FC38DF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2483A9E-1C97-9BDA-4CD5-DFD2085D9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A031D6E-931F-D56B-CA94-7FFED6B71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3A89E-8644-4EFB-9D5A-92AFCFB652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61870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AE8AEA-D18C-F6BA-355D-3A6AFB363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B73F7F7-64F8-E35A-65C5-CE373B17FD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886559F-C913-8279-1816-9E594051F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4E16A-35DD-49A9-87C0-BBAA83FC38DF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350F0AD-166D-E311-E748-DE5DBED6E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C930E7E-BAA8-F566-AE32-C4CCD345D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3A89E-8644-4EFB-9D5A-92AFCFB652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53857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E0CD12-CC4F-6D95-65FF-424D649BB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73BA878-81BE-2B17-5C04-F72308608E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1A7A554-4BF1-008C-0054-145F7BECE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4E16A-35DD-49A9-87C0-BBAA83FC38DF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EB45BF3-8B7C-7C6B-3B05-3FB379331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1276569-E51F-8C11-7C05-D7392413A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3A89E-8644-4EFB-9D5A-92AFCFB652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55709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EE6CD3-A37C-02D5-D040-4DAEF3690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642BB19-01F9-1FFB-79AF-A1618F5113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47CB78D-6DCD-5F09-2FA1-4855F15A50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0F571B2-8FAC-1587-C830-7443AD70D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4E16A-35DD-49A9-87C0-BBAA83FC38DF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7BC6E45-3521-EAE9-B9F4-8E1863251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45AEAE3-CBF2-25D8-BFB0-B826D3C94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3A89E-8644-4EFB-9D5A-92AFCFB652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23700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529240-04C3-EF2D-5673-810571B9D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8C88927-5B66-F4F1-6985-F5E3F159CB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46E7C8D-989D-28C7-00F4-D39275E598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F044A24-91BB-5A5B-A496-2BF8495FD0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CDAFA8C-AE3C-6D07-E405-8CBF18DFCA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5BCFEFC-7D33-B4C3-845E-867DAF632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4E16A-35DD-49A9-87C0-BBAA83FC38DF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5156A23D-8AB8-0DC4-7E53-AB9E058239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773E6D6-D1AE-1B7D-0414-ABD78BC71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3A89E-8644-4EFB-9D5A-92AFCFB652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29385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2D29E6-7238-965F-B68D-A7E2C92B8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ED446AA-8551-C2F9-82B4-FFC6C5894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4E16A-35DD-49A9-87C0-BBAA83FC38DF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444CF63-0834-9B6F-CC0B-9C8FBEB45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87063F0-E709-EB75-10C9-509CC83F9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3A89E-8644-4EFB-9D5A-92AFCFB652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32928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066DF13-E4AA-FD0B-E46C-1279DBCE3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4E16A-35DD-49A9-87C0-BBAA83FC38DF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1B9FBA9E-66AA-2D21-4633-553079881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86DB0FF-B885-B1FC-7C07-15B6DDF32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3A89E-8644-4EFB-9D5A-92AFCFB652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26842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A8DB09-F7A1-908B-A2A0-B9D59E295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25CB32C-096C-62DE-0942-08CBF83942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D629C9C-7422-0D17-025A-633844F72E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191CF26-0B38-60AA-E795-0C0877F86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4E16A-35DD-49A9-87C0-BBAA83FC38DF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B0888C8-37EF-FB63-9EA7-041C2A6D1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E749F3A-4059-6968-4FB6-8866EFDDB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3A89E-8644-4EFB-9D5A-92AFCFB652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92422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2B2103-D534-F16A-F31A-2A63E68AD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55EECBF7-E8C4-FBB6-C376-046F55ADCC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F2BD8FF-B21C-557E-2E06-9E391A0FCA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3DAF779-6A8F-FED6-1492-31F5F4BC5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4E16A-35DD-49A9-87C0-BBAA83FC38DF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E16E708-07DF-2131-3CF8-2AEEE935D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4790B16-B186-897D-E559-A7AB11ADB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3A89E-8644-4EFB-9D5A-92AFCFB652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96739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A4D3AC-C60D-F784-603D-E888CEE05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096FDC6-E1DD-C384-A9E2-A070FEB380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F2502FB-E8A7-1774-485D-ADB637135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4E16A-35DD-49A9-87C0-BBAA83FC38DF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D5B82AB-8FEB-4BCF-E024-71785D3AD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11EAE76-EF30-BFEA-08E6-87932C500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3A89E-8644-4EFB-9D5A-92AFCFB652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09050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B976F869-3A9C-8350-1CD3-C5E74B4D2D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849451F-AAEC-CD99-0EE6-C4851D4864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7793E37-1708-A13D-8C27-E4F566244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4E16A-35DD-49A9-87C0-BBAA83FC38DF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3832048-E2DC-B1D1-C3C8-DFDA99799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0D77CAE-EBD2-594A-69FF-3175A1DEE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3A89E-8644-4EFB-9D5A-92AFCFB652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78123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770D09-6737-8FB8-AF7B-239EC69FA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0AC9F8F-DB96-28ED-6FA2-C25D194F6C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9F0756D-2E32-0004-680D-0BD3DC95EC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C4E16A-35DD-49A9-87C0-BBAA83FC38DF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6EBFFAA-F618-D690-0A2B-C29372D254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36F60DD-B3A9-5A51-B13B-D999B4F63D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F3A89E-8644-4EFB-9D5A-92AFCFB652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45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FBF1F37A-5DAA-3FA2-49AA-ACF36CA35E4B}"/>
              </a:ext>
            </a:extLst>
          </p:cNvPr>
          <p:cNvSpPr/>
          <p:nvPr/>
        </p:nvSpPr>
        <p:spPr>
          <a:xfrm>
            <a:off x="2050482" y="1193533"/>
            <a:ext cx="80910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200" b="1" dirty="0" err="1">
                <a:solidFill>
                  <a:srgbClr val="0F172A"/>
                </a:solidFill>
                <a:latin typeface="+mj-lt"/>
                <a:ea typeface="Arial" pitchFamily="34" charset="-122"/>
                <a:cs typeface="Arial" pitchFamily="34" charset="-120"/>
              </a:rPr>
              <a:t>Классификатор</a:t>
            </a:r>
            <a:r>
              <a:rPr lang="en-US" sz="3200" b="1" dirty="0">
                <a:solidFill>
                  <a:srgbClr val="0F172A"/>
                </a:solidFill>
                <a:latin typeface="+mj-lt"/>
                <a:ea typeface="Arial" pitchFamily="34" charset="-122"/>
                <a:cs typeface="Arial" pitchFamily="34" charset="-120"/>
              </a:rPr>
              <a:t> </a:t>
            </a:r>
            <a:r>
              <a:rPr lang="en-US" sz="3200" b="1" dirty="0" err="1">
                <a:solidFill>
                  <a:srgbClr val="0F172A"/>
                </a:solidFill>
                <a:latin typeface="+mj-lt"/>
                <a:ea typeface="Arial" pitchFamily="34" charset="-122"/>
                <a:cs typeface="Arial" pitchFamily="34" charset="-120"/>
              </a:rPr>
              <a:t>обращений</a:t>
            </a:r>
            <a:endParaRPr lang="ru-RU" sz="3200" b="1" dirty="0">
              <a:solidFill>
                <a:srgbClr val="0F172A"/>
              </a:solidFill>
              <a:latin typeface="+mj-lt"/>
              <a:ea typeface="Arial" pitchFamily="34" charset="-122"/>
              <a:cs typeface="Arial" pitchFamily="34" charset="-120"/>
            </a:endParaRPr>
          </a:p>
          <a:p>
            <a:pPr marL="0" indent="0" algn="just">
              <a:buNone/>
            </a:pPr>
            <a:r>
              <a:rPr lang="en-US" sz="3200" b="1" dirty="0" err="1">
                <a:solidFill>
                  <a:srgbClr val="0F172A"/>
                </a:solidFill>
                <a:latin typeface="+mj-lt"/>
                <a:ea typeface="Arial" pitchFamily="34" charset="-122"/>
                <a:cs typeface="Arial" pitchFamily="34" charset="-120"/>
              </a:rPr>
              <a:t>для</a:t>
            </a:r>
            <a:r>
              <a:rPr lang="en-US" sz="3200" b="1" dirty="0">
                <a:solidFill>
                  <a:srgbClr val="0F172A"/>
                </a:solidFill>
                <a:latin typeface="+mj-lt"/>
                <a:ea typeface="Arial" pitchFamily="34" charset="-122"/>
                <a:cs typeface="Arial" pitchFamily="34" charset="-120"/>
              </a:rPr>
              <a:t> автоматизации службы поддержки</a:t>
            </a:r>
            <a:endParaRPr lang="en-US" sz="3200" dirty="0">
              <a:latin typeface="+mj-lt"/>
            </a:endParaRPr>
          </a:p>
        </p:txBody>
      </p:sp>
      <p:sp>
        <p:nvSpPr>
          <p:cNvPr id="5" name="Text 25">
            <a:extLst>
              <a:ext uri="{FF2B5EF4-FFF2-40B4-BE49-F238E27FC236}">
                <a16:creationId xmlns:a16="http://schemas.microsoft.com/office/drawing/2014/main" id="{CD74C6CE-C9D4-36CB-7766-59182BB5041D}"/>
              </a:ext>
            </a:extLst>
          </p:cNvPr>
          <p:cNvSpPr/>
          <p:nvPr/>
        </p:nvSpPr>
        <p:spPr>
          <a:xfrm>
            <a:off x="9577137" y="3677265"/>
            <a:ext cx="2149641" cy="150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r>
              <a:rPr lang="ru-RU" sz="2000" dirty="0">
                <a:ea typeface="Arial" pitchFamily="34" charset="-122"/>
                <a:cs typeface="Arial" pitchFamily="34" charset="-120"/>
              </a:rPr>
              <a:t>Выполнили</a:t>
            </a:r>
            <a:r>
              <a:rPr lang="en-US" sz="2000" dirty="0">
                <a:ea typeface="Arial" pitchFamily="34" charset="-122"/>
                <a:cs typeface="Arial" pitchFamily="34" charset="-120"/>
              </a:rPr>
              <a:t>:</a:t>
            </a:r>
            <a:endParaRPr lang="ru-RU" sz="2000" dirty="0">
              <a:ea typeface="Arial" pitchFamily="34" charset="-122"/>
              <a:cs typeface="Arial" pitchFamily="34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>
                <a:ea typeface="Arial" pitchFamily="34" charset="-122"/>
                <a:cs typeface="Arial" pitchFamily="34" charset="-120"/>
              </a:rPr>
              <a:t>Пермякова</a:t>
            </a:r>
            <a:r>
              <a:rPr lang="en-US" sz="2000" dirty="0">
                <a:ea typeface="Arial" pitchFamily="34" charset="-122"/>
                <a:cs typeface="Arial" pitchFamily="34" charset="-120"/>
              </a:rPr>
              <a:t> А.</a:t>
            </a:r>
            <a:endParaRPr lang="ru-RU" sz="2000" dirty="0">
              <a:ea typeface="Arial" pitchFamily="34" charset="-122"/>
              <a:cs typeface="Arial" pitchFamily="34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>
                <a:ea typeface="Arial" pitchFamily="34" charset="-122"/>
                <a:cs typeface="Arial" pitchFamily="34" charset="-120"/>
              </a:rPr>
              <a:t>Браун</a:t>
            </a:r>
            <a:r>
              <a:rPr lang="en-US" sz="2000" dirty="0">
                <a:ea typeface="Arial" pitchFamily="34" charset="-122"/>
                <a:cs typeface="Arial" pitchFamily="34" charset="-120"/>
              </a:rPr>
              <a:t> А.</a:t>
            </a:r>
            <a:endParaRPr lang="ru-RU" sz="2000" dirty="0">
              <a:ea typeface="Arial" pitchFamily="34" charset="-122"/>
              <a:cs typeface="Arial" pitchFamily="34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>
                <a:ea typeface="Arial" pitchFamily="34" charset="-122"/>
                <a:cs typeface="Arial" pitchFamily="34" charset="-120"/>
              </a:rPr>
              <a:t>Макагон</a:t>
            </a:r>
            <a:r>
              <a:rPr lang="en-US" sz="2000" dirty="0">
                <a:ea typeface="Arial" pitchFamily="34" charset="-122"/>
                <a:cs typeface="Arial" pitchFamily="34" charset="-120"/>
              </a:rPr>
              <a:t> П.</a:t>
            </a:r>
            <a:endParaRPr lang="ru-RU" sz="2000" dirty="0">
              <a:ea typeface="Arial" pitchFamily="34" charset="-122"/>
              <a:cs typeface="Arial" pitchFamily="34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ea typeface="Arial" pitchFamily="34" charset="-122"/>
                <a:cs typeface="Arial" pitchFamily="34" charset="-120"/>
              </a:rPr>
              <a:t>Гапонов С.</a:t>
            </a:r>
            <a:endParaRPr lang="en-US" sz="2000" dirty="0"/>
          </a:p>
          <a:p>
            <a:pPr marL="0" indent="0">
              <a:buNone/>
            </a:pPr>
            <a:endParaRPr lang="ru-RU" sz="2000" dirty="0">
              <a:ea typeface="Arial" pitchFamily="34" charset="-122"/>
              <a:cs typeface="Arial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172938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C2CD020-0C86-5BBF-88BF-80C1DEA1968F}"/>
              </a:ext>
            </a:extLst>
          </p:cNvPr>
          <p:cNvSpPr txBox="1"/>
          <p:nvPr/>
        </p:nvSpPr>
        <p:spPr>
          <a:xfrm>
            <a:off x="3751006" y="304799"/>
            <a:ext cx="468998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 dirty="0">
                <a:latin typeface="+mj-lt"/>
              </a:rPr>
              <a:t>Задача проекта (глобально) </a:t>
            </a:r>
          </a:p>
        </p:txBody>
      </p:sp>
      <p:sp>
        <p:nvSpPr>
          <p:cNvPr id="3" name="Shape 2">
            <a:extLst>
              <a:ext uri="{FF2B5EF4-FFF2-40B4-BE49-F238E27FC236}">
                <a16:creationId xmlns:a16="http://schemas.microsoft.com/office/drawing/2014/main" id="{2528292D-E420-696E-EC7E-08EE3D5A16B8}"/>
              </a:ext>
            </a:extLst>
          </p:cNvPr>
          <p:cNvSpPr/>
          <p:nvPr/>
        </p:nvSpPr>
        <p:spPr>
          <a:xfrm>
            <a:off x="777240" y="1920240"/>
            <a:ext cx="2011680" cy="114300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0160">
            <a:solidFill>
              <a:srgbClr val="CBD5E1">
                <a:alpha val="85000"/>
              </a:srgbClr>
            </a:solidFill>
            <a:prstDash val="solid"/>
          </a:ln>
          <a:effectLst>
            <a:outerShdw blurRad="12700" dist="50800" dir="2700000" algn="bl" rotWithShape="0">
              <a:srgbClr val="94A3B8">
                <a:alpha val="12000"/>
              </a:srgbClr>
            </a:outerShdw>
          </a:effectLst>
        </p:spPr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B92D4F06-56A6-B905-428D-8E6B721B5C70}"/>
              </a:ext>
            </a:extLst>
          </p:cNvPr>
          <p:cNvSpPr/>
          <p:nvPr/>
        </p:nvSpPr>
        <p:spPr>
          <a:xfrm>
            <a:off x="868680" y="2084832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158C98FA-B0BA-DFBB-226A-BB2EC9DD9152}"/>
              </a:ext>
            </a:extLst>
          </p:cNvPr>
          <p:cNvSpPr/>
          <p:nvPr/>
        </p:nvSpPr>
        <p:spPr>
          <a:xfrm>
            <a:off x="1289304" y="2157984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ea typeface="Arial" pitchFamily="34" charset="-122"/>
                <a:cs typeface="Arial" pitchFamily="34" charset="-120"/>
              </a:rPr>
              <a:t>Клиент пишет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ea typeface="Arial" pitchFamily="34" charset="-122"/>
                <a:cs typeface="Arial" pitchFamily="34" charset="-120"/>
              </a:rPr>
              <a:t>обращение</a:t>
            </a:r>
            <a:endParaRPr lang="en-US" sz="1400" dirty="0"/>
          </a:p>
        </p:txBody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BF5D803E-0FFC-5E2C-72C7-CD8FC77320F2}"/>
              </a:ext>
            </a:extLst>
          </p:cNvPr>
          <p:cNvSpPr/>
          <p:nvPr/>
        </p:nvSpPr>
        <p:spPr>
          <a:xfrm>
            <a:off x="3044952" y="2331720"/>
            <a:ext cx="310896" cy="329184"/>
          </a:xfrm>
          <a:prstGeom prst="chevron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7" name="Shape 6">
            <a:extLst>
              <a:ext uri="{FF2B5EF4-FFF2-40B4-BE49-F238E27FC236}">
                <a16:creationId xmlns:a16="http://schemas.microsoft.com/office/drawing/2014/main" id="{940180E3-D49E-C73C-B746-D3E70015DC52}"/>
              </a:ext>
            </a:extLst>
          </p:cNvPr>
          <p:cNvSpPr/>
          <p:nvPr/>
        </p:nvSpPr>
        <p:spPr>
          <a:xfrm>
            <a:off x="3520440" y="1920240"/>
            <a:ext cx="2011680" cy="1143000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 w="10160">
            <a:solidFill>
              <a:srgbClr val="CBD5E1">
                <a:alpha val="85000"/>
              </a:srgbClr>
            </a:solidFill>
            <a:prstDash val="solid"/>
          </a:ln>
          <a:effectLst>
            <a:outerShdw blurRad="12700" dist="50800" dir="2700000" algn="bl" rotWithShape="0">
              <a:srgbClr val="94A3B8">
                <a:alpha val="12000"/>
              </a:srgbClr>
            </a:outerShdw>
          </a:effectLst>
        </p:spPr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37D23B37-D12E-73C2-15C4-7B77D855CD43}"/>
              </a:ext>
            </a:extLst>
          </p:cNvPr>
          <p:cNvSpPr/>
          <p:nvPr/>
        </p:nvSpPr>
        <p:spPr>
          <a:xfrm>
            <a:off x="3611880" y="2084832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8FC70C36-074E-12AD-3874-BA032580EA1A}"/>
              </a:ext>
            </a:extLst>
          </p:cNvPr>
          <p:cNvSpPr/>
          <p:nvPr/>
        </p:nvSpPr>
        <p:spPr>
          <a:xfrm>
            <a:off x="4032504" y="2157984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ea typeface="Arial" pitchFamily="34" charset="-122"/>
                <a:cs typeface="Arial" pitchFamily="34" charset="-120"/>
              </a:rPr>
              <a:t>ML-</a:t>
            </a:r>
            <a:r>
              <a:rPr lang="en-US" sz="1400" b="1" dirty="0" err="1">
                <a:solidFill>
                  <a:srgbClr val="0F172A"/>
                </a:solidFill>
                <a:ea typeface="Arial" pitchFamily="34" charset="-122"/>
                <a:cs typeface="Arial" pitchFamily="34" charset="-120"/>
              </a:rPr>
              <a:t>классификатор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ea typeface="Arial" pitchFamily="34" charset="-122"/>
                <a:cs typeface="Arial" pitchFamily="34" charset="-120"/>
              </a:rPr>
              <a:t>понимает тему</a:t>
            </a:r>
            <a:endParaRPr lang="en-US" sz="1400" dirty="0"/>
          </a:p>
        </p:txBody>
      </p:sp>
      <p:sp>
        <p:nvSpPr>
          <p:cNvPr id="10" name="Shape 9">
            <a:extLst>
              <a:ext uri="{FF2B5EF4-FFF2-40B4-BE49-F238E27FC236}">
                <a16:creationId xmlns:a16="http://schemas.microsoft.com/office/drawing/2014/main" id="{CB840174-6870-51B6-EC31-3B2ACF826AC4}"/>
              </a:ext>
            </a:extLst>
          </p:cNvPr>
          <p:cNvSpPr/>
          <p:nvPr/>
        </p:nvSpPr>
        <p:spPr>
          <a:xfrm>
            <a:off x="5788152" y="2331720"/>
            <a:ext cx="310896" cy="329184"/>
          </a:xfrm>
          <a:prstGeom prst="chevron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1" name="Shape 10">
            <a:extLst>
              <a:ext uri="{FF2B5EF4-FFF2-40B4-BE49-F238E27FC236}">
                <a16:creationId xmlns:a16="http://schemas.microsoft.com/office/drawing/2014/main" id="{C8C93BF9-EDB5-7D6F-FF1D-B73B1DDDD7A0}"/>
              </a:ext>
            </a:extLst>
          </p:cNvPr>
          <p:cNvSpPr/>
          <p:nvPr/>
        </p:nvSpPr>
        <p:spPr>
          <a:xfrm>
            <a:off x="6263640" y="1920240"/>
            <a:ext cx="2011680" cy="114300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 w="10160">
            <a:solidFill>
              <a:srgbClr val="CBD5E1">
                <a:alpha val="85000"/>
              </a:srgbClr>
            </a:solidFill>
            <a:prstDash val="solid"/>
          </a:ln>
          <a:effectLst>
            <a:outerShdw blurRad="12700" dist="50800" dir="2700000" algn="bl" rotWithShape="0">
              <a:srgbClr val="94A3B8">
                <a:alpha val="12000"/>
              </a:srgbClr>
            </a:outerShdw>
          </a:effectLst>
        </p:spPr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736C9944-C00A-5D15-8C66-82F946B1C6EA}"/>
              </a:ext>
            </a:extLst>
          </p:cNvPr>
          <p:cNvSpPr/>
          <p:nvPr/>
        </p:nvSpPr>
        <p:spPr>
          <a:xfrm>
            <a:off x="6355080" y="2084832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07724CE5-23F1-7135-9F9A-D3EDFED70299}"/>
              </a:ext>
            </a:extLst>
          </p:cNvPr>
          <p:cNvSpPr/>
          <p:nvPr/>
        </p:nvSpPr>
        <p:spPr>
          <a:xfrm>
            <a:off x="6775704" y="2157984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ea typeface="Arial" pitchFamily="34" charset="-122"/>
                <a:cs typeface="Arial" pitchFamily="34" charset="-120"/>
              </a:rPr>
              <a:t>Система назначает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ea typeface="Arial" pitchFamily="34" charset="-122"/>
                <a:cs typeface="Arial" pitchFamily="34" charset="-120"/>
              </a:rPr>
              <a:t>категорию и SLA</a:t>
            </a:r>
            <a:endParaRPr lang="en-US" sz="1400" dirty="0"/>
          </a:p>
        </p:txBody>
      </p:sp>
      <p:sp>
        <p:nvSpPr>
          <p:cNvPr id="14" name="Shape 13">
            <a:extLst>
              <a:ext uri="{FF2B5EF4-FFF2-40B4-BE49-F238E27FC236}">
                <a16:creationId xmlns:a16="http://schemas.microsoft.com/office/drawing/2014/main" id="{812E7072-40B4-2D84-E23C-E61A3B292915}"/>
              </a:ext>
            </a:extLst>
          </p:cNvPr>
          <p:cNvSpPr/>
          <p:nvPr/>
        </p:nvSpPr>
        <p:spPr>
          <a:xfrm>
            <a:off x="8531352" y="2331720"/>
            <a:ext cx="310896" cy="329184"/>
          </a:xfrm>
          <a:prstGeom prst="chevron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5" name="Shape 14">
            <a:extLst>
              <a:ext uri="{FF2B5EF4-FFF2-40B4-BE49-F238E27FC236}">
                <a16:creationId xmlns:a16="http://schemas.microsoft.com/office/drawing/2014/main" id="{2595D77B-F828-48DD-0CD3-B1801D3A4EA7}"/>
              </a:ext>
            </a:extLst>
          </p:cNvPr>
          <p:cNvSpPr/>
          <p:nvPr/>
        </p:nvSpPr>
        <p:spPr>
          <a:xfrm>
            <a:off x="9006840" y="1920240"/>
            <a:ext cx="2011680" cy="114300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10160">
            <a:solidFill>
              <a:srgbClr val="CBD5E1">
                <a:alpha val="85000"/>
              </a:srgbClr>
            </a:solidFill>
            <a:prstDash val="solid"/>
          </a:ln>
          <a:effectLst>
            <a:outerShdw blurRad="12700" dist="50800" dir="2700000" algn="bl" rotWithShape="0">
              <a:srgbClr val="94A3B8">
                <a:alpha val="12000"/>
              </a:srgbClr>
            </a:outerShdw>
          </a:effectLst>
        </p:spPr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4BCA690B-B55A-3546-FACC-EFA3C641CC95}"/>
              </a:ext>
            </a:extLst>
          </p:cNvPr>
          <p:cNvSpPr/>
          <p:nvPr/>
        </p:nvSpPr>
        <p:spPr>
          <a:xfrm>
            <a:off x="9098280" y="2084832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17" name="Text 16">
            <a:extLst>
              <a:ext uri="{FF2B5EF4-FFF2-40B4-BE49-F238E27FC236}">
                <a16:creationId xmlns:a16="http://schemas.microsoft.com/office/drawing/2014/main" id="{5B526EA8-4E10-EECD-CD73-0838479DD9B8}"/>
              </a:ext>
            </a:extLst>
          </p:cNvPr>
          <p:cNvSpPr/>
          <p:nvPr/>
        </p:nvSpPr>
        <p:spPr>
          <a:xfrm>
            <a:off x="9518904" y="2157984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0F172A"/>
                </a:solidFill>
                <a:ea typeface="Arial" pitchFamily="34" charset="-122"/>
                <a:cs typeface="Arial" pitchFamily="34" charset="-120"/>
              </a:rPr>
              <a:t>Заявка</a:t>
            </a:r>
            <a:r>
              <a:rPr lang="en-US" sz="1400" b="1" dirty="0">
                <a:solidFill>
                  <a:srgbClr val="0F172A"/>
                </a:solidFill>
                <a:ea typeface="Arial" pitchFamily="34" charset="-122"/>
                <a:cs typeface="Arial" pitchFamily="34" charset="-120"/>
              </a:rPr>
              <a:t> </a:t>
            </a:r>
            <a:r>
              <a:rPr lang="en-US" sz="1400" b="1" dirty="0" err="1">
                <a:solidFill>
                  <a:srgbClr val="0F172A"/>
                </a:solidFill>
                <a:ea typeface="Arial" pitchFamily="34" charset="-122"/>
                <a:cs typeface="Arial" pitchFamily="34" charset="-120"/>
              </a:rPr>
              <a:t>уходит</a:t>
            </a:r>
            <a:r>
              <a:rPr lang="ru-RU" sz="1400" b="1" dirty="0">
                <a:solidFill>
                  <a:srgbClr val="0F172A"/>
                </a:solidFill>
                <a:ea typeface="Arial" pitchFamily="34" charset="-122"/>
                <a:cs typeface="Arial" pitchFamily="34" charset="-120"/>
              </a:rPr>
              <a:t> в нужный отдел</a:t>
            </a:r>
            <a:endParaRPr lang="en-US" sz="1400" dirty="0"/>
          </a:p>
        </p:txBody>
      </p:sp>
      <p:sp>
        <p:nvSpPr>
          <p:cNvPr id="18" name="Shape 17">
            <a:extLst>
              <a:ext uri="{FF2B5EF4-FFF2-40B4-BE49-F238E27FC236}">
                <a16:creationId xmlns:a16="http://schemas.microsoft.com/office/drawing/2014/main" id="{71E2E355-029E-CF32-4919-7AE6E0C060AE}"/>
              </a:ext>
            </a:extLst>
          </p:cNvPr>
          <p:cNvSpPr/>
          <p:nvPr/>
        </p:nvSpPr>
        <p:spPr>
          <a:xfrm>
            <a:off x="815340" y="3911862"/>
            <a:ext cx="3291840" cy="1234440"/>
          </a:xfrm>
          <a:prstGeom prst="roundRect">
            <a:avLst>
              <a:gd name="adj" fmla="val 9630"/>
            </a:avLst>
          </a:prstGeom>
          <a:solidFill>
            <a:srgbClr val="FFFFFF"/>
          </a:solidFill>
          <a:ln w="10160">
            <a:solidFill>
              <a:schemeClr val="accent6">
                <a:lumMod val="75000"/>
                <a:alpha val="85000"/>
              </a:schemeClr>
            </a:solidFill>
            <a:prstDash val="solid"/>
          </a:ln>
          <a:effectLst>
            <a:outerShdw blurRad="12700" dist="50800" dir="2700000" algn="bl" rotWithShape="0">
              <a:srgbClr val="94A3B8">
                <a:alpha val="12000"/>
              </a:srgbClr>
            </a:outerShdw>
          </a:effectLst>
        </p:spPr>
      </p:sp>
      <p:sp>
        <p:nvSpPr>
          <p:cNvPr id="19" name="Text 18">
            <a:extLst>
              <a:ext uri="{FF2B5EF4-FFF2-40B4-BE49-F238E27FC236}">
                <a16:creationId xmlns:a16="http://schemas.microsoft.com/office/drawing/2014/main" id="{539F2050-2A30-8C0E-0144-3B1E11767B11}"/>
              </a:ext>
            </a:extLst>
          </p:cNvPr>
          <p:cNvSpPr/>
          <p:nvPr/>
        </p:nvSpPr>
        <p:spPr>
          <a:xfrm>
            <a:off x="960120" y="406908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возвращает сервис</a:t>
            </a:r>
            <a:endParaRPr lang="en-US" sz="1300" dirty="0"/>
          </a:p>
        </p:txBody>
      </p:sp>
      <p:sp>
        <p:nvSpPr>
          <p:cNvPr id="21" name="Text 20">
            <a:extLst>
              <a:ext uri="{FF2B5EF4-FFF2-40B4-BE49-F238E27FC236}">
                <a16:creationId xmlns:a16="http://schemas.microsoft.com/office/drawing/2014/main" id="{82777A5C-A914-341E-F5D5-B4455CCCF1DC}"/>
              </a:ext>
            </a:extLst>
          </p:cNvPr>
          <p:cNvSpPr/>
          <p:nvPr/>
        </p:nvSpPr>
        <p:spPr>
          <a:xfrm>
            <a:off x="899160" y="4434840"/>
            <a:ext cx="3124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ea typeface="Arial" pitchFamily="34" charset="-122"/>
                <a:cs typeface="Arial" pitchFamily="34" charset="-120"/>
              </a:rPr>
              <a:t>Категорию: Оплата, Доставка, </a:t>
            </a:r>
            <a:r>
              <a:rPr lang="en-US" sz="1200" dirty="0" err="1">
                <a:ea typeface="Arial" pitchFamily="34" charset="-122"/>
                <a:cs typeface="Arial" pitchFamily="34" charset="-120"/>
              </a:rPr>
              <a:t>Спам</a:t>
            </a:r>
            <a:r>
              <a:rPr lang="ru-RU" sz="1200" dirty="0">
                <a:ea typeface="Arial" pitchFamily="34" charset="-122"/>
                <a:cs typeface="Arial" pitchFamily="34" charset="-120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>
                <a:ea typeface="Arial" pitchFamily="34" charset="-122"/>
                <a:cs typeface="Arial" pitchFamily="34" charset="-120"/>
              </a:rPr>
              <a:t>Приоритет</a:t>
            </a:r>
            <a:r>
              <a:rPr lang="en-US" sz="1200" dirty="0">
                <a:ea typeface="Arial" pitchFamily="34" charset="-122"/>
                <a:cs typeface="Arial" pitchFamily="34" charset="-120"/>
              </a:rPr>
              <a:t>: </a:t>
            </a:r>
            <a:r>
              <a:rPr lang="en-US" sz="1200" dirty="0" err="1">
                <a:ea typeface="Arial" pitchFamily="34" charset="-122"/>
                <a:cs typeface="Arial" pitchFamily="34" charset="-120"/>
              </a:rPr>
              <a:t>высокий</a:t>
            </a:r>
            <a:r>
              <a:rPr lang="en-US" sz="1200" dirty="0">
                <a:ea typeface="Arial" pitchFamily="34" charset="-122"/>
                <a:cs typeface="Arial" pitchFamily="34" charset="-120"/>
              </a:rPr>
              <a:t>, </a:t>
            </a:r>
            <a:r>
              <a:rPr lang="en-US" sz="1200" dirty="0" err="1">
                <a:ea typeface="Arial" pitchFamily="34" charset="-122"/>
                <a:cs typeface="Arial" pitchFamily="34" charset="-120"/>
              </a:rPr>
              <a:t>средний</a:t>
            </a:r>
            <a:r>
              <a:rPr lang="en-US" sz="1200" dirty="0"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err="1">
                <a:ea typeface="Arial" pitchFamily="34" charset="-122"/>
                <a:cs typeface="Arial" pitchFamily="34" charset="-120"/>
              </a:rPr>
              <a:t>или</a:t>
            </a:r>
            <a:r>
              <a:rPr lang="en-US" sz="1200" dirty="0"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err="1">
                <a:ea typeface="Arial" pitchFamily="34" charset="-122"/>
                <a:cs typeface="Arial" pitchFamily="34" charset="-120"/>
              </a:rPr>
              <a:t>низкий</a:t>
            </a: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</p:txBody>
      </p:sp>
      <p:sp>
        <p:nvSpPr>
          <p:cNvPr id="23" name="Text 22">
            <a:extLst>
              <a:ext uri="{FF2B5EF4-FFF2-40B4-BE49-F238E27FC236}">
                <a16:creationId xmlns:a16="http://schemas.microsoft.com/office/drawing/2014/main" id="{3BDD5A7C-322E-AFEC-D2E0-0813BD06D6F3}"/>
              </a:ext>
            </a:extLst>
          </p:cNvPr>
          <p:cNvSpPr/>
          <p:nvPr/>
        </p:nvSpPr>
        <p:spPr>
          <a:xfrm>
            <a:off x="1124712" y="474573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24" name="Shape 23">
            <a:extLst>
              <a:ext uri="{FF2B5EF4-FFF2-40B4-BE49-F238E27FC236}">
                <a16:creationId xmlns:a16="http://schemas.microsoft.com/office/drawing/2014/main" id="{48015B9A-936F-3D36-EC55-CB4124FA4274}"/>
              </a:ext>
            </a:extLst>
          </p:cNvPr>
          <p:cNvSpPr/>
          <p:nvPr/>
        </p:nvSpPr>
        <p:spPr>
          <a:xfrm>
            <a:off x="4389120" y="3911862"/>
            <a:ext cx="3291840" cy="1234440"/>
          </a:xfrm>
          <a:prstGeom prst="roundRect">
            <a:avLst>
              <a:gd name="adj" fmla="val 9630"/>
            </a:avLst>
          </a:prstGeom>
          <a:solidFill>
            <a:srgbClr val="FFFFFF"/>
          </a:solidFill>
          <a:ln w="10160">
            <a:solidFill>
              <a:schemeClr val="accent6">
                <a:lumMod val="75000"/>
                <a:alpha val="85000"/>
              </a:schemeClr>
            </a:solidFill>
            <a:prstDash val="solid"/>
          </a:ln>
          <a:effectLst>
            <a:outerShdw blurRad="12700" dist="50800" dir="2700000" algn="bl" rotWithShape="0">
              <a:srgbClr val="94A3B8">
                <a:alpha val="12000"/>
              </a:srgbClr>
            </a:outerShdw>
          </a:effectLst>
        </p:spPr>
      </p:sp>
      <p:sp>
        <p:nvSpPr>
          <p:cNvPr id="25" name="Text 24">
            <a:extLst>
              <a:ext uri="{FF2B5EF4-FFF2-40B4-BE49-F238E27FC236}">
                <a16:creationId xmlns:a16="http://schemas.microsoft.com/office/drawing/2014/main" id="{D5152A65-8DC5-35B0-0384-3258BBE6C792}"/>
              </a:ext>
            </a:extLst>
          </p:cNvPr>
          <p:cNvSpPr/>
          <p:nvPr/>
        </p:nvSpPr>
        <p:spPr>
          <a:xfrm>
            <a:off x="4572000" y="406908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Зачем бизнесу</a:t>
            </a:r>
            <a:endParaRPr lang="en-US" sz="1300" dirty="0"/>
          </a:p>
        </p:txBody>
      </p:sp>
      <p:sp>
        <p:nvSpPr>
          <p:cNvPr id="26" name="Shape 25">
            <a:extLst>
              <a:ext uri="{FF2B5EF4-FFF2-40B4-BE49-F238E27FC236}">
                <a16:creationId xmlns:a16="http://schemas.microsoft.com/office/drawing/2014/main" id="{1F7B0233-D2C2-5B24-7709-2E7A66242327}"/>
              </a:ext>
            </a:extLst>
          </p:cNvPr>
          <p:cNvSpPr/>
          <p:nvPr/>
        </p:nvSpPr>
        <p:spPr>
          <a:xfrm>
            <a:off x="4572000" y="4517136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6">
            <a:extLst>
              <a:ext uri="{FF2B5EF4-FFF2-40B4-BE49-F238E27FC236}">
                <a16:creationId xmlns:a16="http://schemas.microsoft.com/office/drawing/2014/main" id="{5D385F25-CC8F-1F0A-EC67-91A132DA7D71}"/>
              </a:ext>
            </a:extLst>
          </p:cNvPr>
          <p:cNvSpPr/>
          <p:nvPr/>
        </p:nvSpPr>
        <p:spPr>
          <a:xfrm>
            <a:off x="4736592" y="44348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Меньше ручной сортировки</a:t>
            </a:r>
            <a:endParaRPr lang="en-US" sz="1150" dirty="0"/>
          </a:p>
        </p:txBody>
      </p:sp>
      <p:sp>
        <p:nvSpPr>
          <p:cNvPr id="28" name="Shape 27">
            <a:extLst>
              <a:ext uri="{FF2B5EF4-FFF2-40B4-BE49-F238E27FC236}">
                <a16:creationId xmlns:a16="http://schemas.microsoft.com/office/drawing/2014/main" id="{B1239FD6-DB6A-A1EB-5E61-94073A473475}"/>
              </a:ext>
            </a:extLst>
          </p:cNvPr>
          <p:cNvSpPr/>
          <p:nvPr/>
        </p:nvSpPr>
        <p:spPr>
          <a:xfrm>
            <a:off x="4572000" y="4828032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9" name="Text 28">
            <a:extLst>
              <a:ext uri="{FF2B5EF4-FFF2-40B4-BE49-F238E27FC236}">
                <a16:creationId xmlns:a16="http://schemas.microsoft.com/office/drawing/2014/main" id="{6223A843-873D-2F65-A255-1B87086C74A7}"/>
              </a:ext>
            </a:extLst>
          </p:cNvPr>
          <p:cNvSpPr/>
          <p:nvPr/>
        </p:nvSpPr>
        <p:spPr>
          <a:xfrm>
            <a:off x="4736592" y="474573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Срочные заявки быстрее попадают в работу</a:t>
            </a:r>
            <a:endParaRPr lang="en-US" sz="1150" dirty="0"/>
          </a:p>
        </p:txBody>
      </p:sp>
      <p:sp>
        <p:nvSpPr>
          <p:cNvPr id="30" name="Shape 29">
            <a:extLst>
              <a:ext uri="{FF2B5EF4-FFF2-40B4-BE49-F238E27FC236}">
                <a16:creationId xmlns:a16="http://schemas.microsoft.com/office/drawing/2014/main" id="{92DF5300-3F89-0BDF-34A0-3DD51EB1BD06}"/>
              </a:ext>
            </a:extLst>
          </p:cNvPr>
          <p:cNvSpPr/>
          <p:nvPr/>
        </p:nvSpPr>
        <p:spPr>
          <a:xfrm>
            <a:off x="8001000" y="3886200"/>
            <a:ext cx="3291840" cy="1234440"/>
          </a:xfrm>
          <a:prstGeom prst="roundRect">
            <a:avLst>
              <a:gd name="adj" fmla="val 9630"/>
            </a:avLst>
          </a:prstGeom>
          <a:solidFill>
            <a:srgbClr val="FFFFFF"/>
          </a:solidFill>
          <a:ln w="10160">
            <a:solidFill>
              <a:schemeClr val="accent6">
                <a:lumMod val="50000"/>
                <a:alpha val="85000"/>
              </a:schemeClr>
            </a:solidFill>
            <a:prstDash val="solid"/>
          </a:ln>
          <a:effectLst>
            <a:outerShdw blurRad="12700" dist="50800" dir="2700000" algn="bl" rotWithShape="0">
              <a:srgbClr val="94A3B8">
                <a:alpha val="12000"/>
              </a:srgbClr>
            </a:outerShdw>
          </a:effectLst>
        </p:spPr>
      </p:sp>
      <p:sp>
        <p:nvSpPr>
          <p:cNvPr id="31" name="Text 30">
            <a:extLst>
              <a:ext uri="{FF2B5EF4-FFF2-40B4-BE49-F238E27FC236}">
                <a16:creationId xmlns:a16="http://schemas.microsoft.com/office/drawing/2014/main" id="{B19D58AD-1306-0A7A-BE52-4794BF510C27}"/>
              </a:ext>
            </a:extLst>
          </p:cNvPr>
          <p:cNvSpPr/>
          <p:nvPr/>
        </p:nvSpPr>
        <p:spPr>
          <a:xfrm>
            <a:off x="8183880" y="406908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Формат результата</a:t>
            </a:r>
            <a:endParaRPr lang="en-US" sz="1300" dirty="0"/>
          </a:p>
        </p:txBody>
      </p:sp>
      <p:sp>
        <p:nvSpPr>
          <p:cNvPr id="32" name="Shape 31">
            <a:extLst>
              <a:ext uri="{FF2B5EF4-FFF2-40B4-BE49-F238E27FC236}">
                <a16:creationId xmlns:a16="http://schemas.microsoft.com/office/drawing/2014/main" id="{300817DA-5CC2-AAD8-7E2C-55D2A3180AB7}"/>
              </a:ext>
            </a:extLst>
          </p:cNvPr>
          <p:cNvSpPr/>
          <p:nvPr/>
        </p:nvSpPr>
        <p:spPr>
          <a:xfrm>
            <a:off x="8183880" y="4517136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Text 32">
            <a:extLst>
              <a:ext uri="{FF2B5EF4-FFF2-40B4-BE49-F238E27FC236}">
                <a16:creationId xmlns:a16="http://schemas.microsoft.com/office/drawing/2014/main" id="{58F030DA-4C99-95F1-C207-686F81CAC7CF}"/>
              </a:ext>
            </a:extLst>
          </p:cNvPr>
          <p:cNvSpPr/>
          <p:nvPr/>
        </p:nvSpPr>
        <p:spPr>
          <a:xfrm>
            <a:off x="8348472" y="44348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Работающий API /predict</a:t>
            </a:r>
            <a:endParaRPr lang="en-US" sz="1150" dirty="0"/>
          </a:p>
        </p:txBody>
      </p:sp>
      <p:sp>
        <p:nvSpPr>
          <p:cNvPr id="34" name="Shape 33">
            <a:extLst>
              <a:ext uri="{FF2B5EF4-FFF2-40B4-BE49-F238E27FC236}">
                <a16:creationId xmlns:a16="http://schemas.microsoft.com/office/drawing/2014/main" id="{3990DD80-9F21-4D49-CF0D-148B29DD1425}"/>
              </a:ext>
            </a:extLst>
          </p:cNvPr>
          <p:cNvSpPr/>
          <p:nvPr/>
        </p:nvSpPr>
        <p:spPr>
          <a:xfrm>
            <a:off x="8183880" y="4828032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5" name="Text 34">
            <a:extLst>
              <a:ext uri="{FF2B5EF4-FFF2-40B4-BE49-F238E27FC236}">
                <a16:creationId xmlns:a16="http://schemas.microsoft.com/office/drawing/2014/main" id="{BE2732AA-894B-6002-0CB0-EA932821D8B7}"/>
              </a:ext>
            </a:extLst>
          </p:cNvPr>
          <p:cNvSpPr/>
          <p:nvPr/>
        </p:nvSpPr>
        <p:spPr>
          <a:xfrm>
            <a:off x="8348472" y="474573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ru-RU" sz="1150" dirty="0"/>
              <a:t>страница на </a:t>
            </a:r>
            <a:r>
              <a:rPr lang="en-US" sz="1150" dirty="0" err="1"/>
              <a:t>Streamlit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7407671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26829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30782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72324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24645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20382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29223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437209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79</Words>
  <Application>Microsoft Office PowerPoint</Application>
  <PresentationFormat>Широкоэкранный</PresentationFormat>
  <Paragraphs>24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степан гапонов</dc:creator>
  <cp:lastModifiedBy>степан гапонов</cp:lastModifiedBy>
  <cp:revision>1</cp:revision>
  <dcterms:created xsi:type="dcterms:W3CDTF">2026-05-21T14:09:26Z</dcterms:created>
  <dcterms:modified xsi:type="dcterms:W3CDTF">2026-05-21T14:28:56Z</dcterms:modified>
</cp:coreProperties>
</file>